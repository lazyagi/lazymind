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Noto Sans SC" panose="020B0200000000000000" pitchFamily="34" charset="-128"/>
      <p:regular r:id="rId11"/>
    </p:embeddedFont>
    <p:embeddedFont>
      <p:font typeface="Noto Serif SC" panose="02020200000000000000" pitchFamily="34" charset="-128"/>
      <p:regular r:id="rId12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北京故宫：六百年宫城与公共博物馆。紫禁城于1420年建成，曾是明清两代皇宫；1925年故宫博物院成立并向公众开放。请结合真实全景照片，说明宫城用途与公共文化服务的变化。
图片署名：Tojan76，Forbidden City Panorama 1.jpg，Wikimedia Commons，CC BY-SA 3.0。演示中缩放并裁切；图片及其改编继续遵循原许可。
来源：https://commons.wikimedia.org/wiki/File:Forbidden\_City\_Panorama\_1.jpg
许可：https://creativecommons.org/licenses/by-sa/3.0/
底图为 AI 生成装饰，不作史实或建筑测绘依据。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沿南北中轴观察故宫：外朝三大殿依次为太和殿、中和殿、保和殿，体现礼仪空间的次序；其北是内廷。太和殿照片用于观察建筑形制，装饰底图不作为精确平面图或测绘依据。
图片署名：Gisling，Hall of Supreme Harmony.JPG，Wikimedia Commons，CC BY 3.0。演示中缩放并裁切。
来源：https://commons.wikimedia.org/wiki/File:Hall\_of\_Supreme\_Harmony.JPG
许可：https://creativecommons.org/licenses/by/3.0/
底图为 AI 生成装饰。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以金瓯永固杯为例观察宫廷工艺：先看錾刻纹饰，再看镶嵌装饰，最后理解“金瓯永固”的寓意与仪式用途。图片用于文物细节观察，不代表当前展览安排；不以无时点的馆藏总数作为本页结论。
图片署名：Baomi，金瓯永固杯 故宫珍宝馆.jpg，Wikimedia Commons，CC BY-SA 4.0。演示中缩放并裁切；图片及其改编继续遵循原许可。
来源：https://commons.wikimedia.org/wiki/File:金瓯永固杯\_故宫珍宝馆.jpg
许可：https://creativecommons.org/licenses/by-sa/4.0/
底图为 AI 生成装饰。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保护传承需要持续监测、研究与公众传播。午门照片只说明建筑环境，不作为修缮施工的记录照片。数字影像与三维档案帮助记录文物；“数字文物库”“全景故宫”等项目让公众能够接触相关文化资源。
图片署名：Legolas1024，Meridian Gate, Beijing.jpg，Wikimedia Commons，CC BY-SA 4.0。演示中缩放并裁切；图片及其改编继续遵循原许可。
来源：https://commons.wikimedia.org/wiki/File:Meridian\_Gate,\_Beijing.jpg
许可：https://creativecommons.org/licenses/by-sa/4.0/
底图为 AI 生成装饰。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"/>
            <a:ext cx="9144000" cy="0"/>
          </a:xfrm>
          <a:prstGeom prst="line">
            <a:avLst/>
          </a:prstGeom>
          <a:noFill/>
          <a:ln w="1143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274320"/>
            <a:ext cx="5779026" cy="846892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42900" y="274320"/>
            <a:ext cx="0" cy="846892"/>
          </a:xfrm>
          <a:prstGeom prst="line">
            <a:avLst/>
          </a:prstGeom>
          <a:noFill/>
          <a:ln w="34290">
            <a:solidFill>
              <a:srgbClr val="E53935"/>
            </a:solidFill>
            <a:prstDash val="solid"/>
          </a:ln>
        </p:spPr>
      </p:sp>
      <p:sp>
        <p:nvSpPr>
          <p:cNvPr id="7" name="eyebrow"/>
          <p:cNvSpPr/>
          <p:nvPr/>
        </p:nvSpPr>
        <p:spPr>
          <a:xfrm>
            <a:off x="525780" y="274320"/>
            <a:ext cx="15987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203" kern="0" dirty="0">
                <a:solidFill>
                  <a:srgbClr val="9A7B1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故宫博物院 · 世界文化遗产</a:t>
            </a:r>
            <a:endParaRPr lang="en-US" sz="675" dirty="0"/>
          </a:p>
        </p:txBody>
      </p:sp>
      <p:sp>
        <p:nvSpPr>
          <p:cNvPr id="8" name="title"/>
          <p:cNvSpPr/>
          <p:nvPr/>
        </p:nvSpPr>
        <p:spPr>
          <a:xfrm>
            <a:off x="525780" y="474345"/>
            <a:ext cx="6267683" cy="38397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b="1" spc="54" kern="0" dirty="0">
                <a:solidFill>
                  <a:srgbClr val="2B1B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北京故宫：六百年宫城与公共博物馆</a:t>
            </a:r>
            <a:endParaRPr lang="en-US" sz="2700" dirty="0"/>
          </a:p>
        </p:txBody>
      </p:sp>
      <p:sp>
        <p:nvSpPr>
          <p:cNvPr id="9" name="narrative"/>
          <p:cNvSpPr/>
          <p:nvPr/>
        </p:nvSpPr>
        <p:spPr>
          <a:xfrm>
            <a:off x="525780" y="938332"/>
            <a:ext cx="6267683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5C4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同一片宫城，从帝王禁地变成公众可以走进的博物馆——1420 年建成，1925 年建院开放。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63890" y="274320"/>
            <a:ext cx="537210" cy="537210"/>
          </a:xfrm>
          <a:prstGeom prst="roundRect">
            <a:avLst>
              <a:gd name="adj" fmla="val 3191"/>
            </a:avLst>
          </a:prstGeom>
          <a:solidFill>
            <a:srgbClr val="E53935"/>
          </a:solidFill>
          <a:ln w="11430">
            <a:solidFill>
              <a:srgbClr val="C9A227"/>
            </a:solidFill>
            <a:prstDash val="solid"/>
          </a:ln>
          <a:effectLst>
            <a:outerShdw sx="100000" sy="100000" kx="0" ky="0" algn="bl" rotWithShape="0" blurRad="171450" dist="76200" dir="16200000">
              <a:srgbClr val="A81E1B">
                <a:alpha val="2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6755" y="354330"/>
            <a:ext cx="411480" cy="3771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8E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故宫</a:t>
            </a:r>
            <a:endParaRPr lang="en-US" sz="1350" dirty="0"/>
          </a:p>
        </p:txBody>
      </p:sp>
      <p:sp>
        <p:nvSpPr>
          <p:cNvPr id="12" name="bullet-1"/>
          <p:cNvSpPr/>
          <p:nvPr/>
        </p:nvSpPr>
        <p:spPr>
          <a:xfrm>
            <a:off x="342900" y="1246942"/>
            <a:ext cx="3200400" cy="1559659"/>
          </a:xfrm>
          <a:prstGeom prst="rect">
            <a:avLst/>
          </a:prstGeom>
          <a:solidFill>
            <a:srgbClr val="FFFDF6"/>
          </a:solidFill>
          <a:ln w="34290">
            <a:solidFill>
              <a:srgbClr val="E53935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8575" dir="16200000">
              <a:srgbClr val="2B1B12">
                <a:alpha val="6000"/>
              </a:srgbClr>
            </a:outerShdw>
          </a:effectLst>
        </p:spPr>
      </p:sp>
      <p:sp>
        <p:nvSpPr>
          <p:cNvPr id="13" name="bullet-1"/>
          <p:cNvSpPr/>
          <p:nvPr/>
        </p:nvSpPr>
        <p:spPr>
          <a:xfrm>
            <a:off x="514350" y="1881039"/>
            <a:ext cx="685800" cy="291465"/>
          </a:xfrm>
          <a:prstGeom prst="rect">
            <a:avLst/>
          </a:prstGeom>
          <a:noFill/>
          <a:ln/>
        </p:spPr>
      </p:sp>
      <p:sp>
        <p:nvSpPr>
          <p:cNvPr id="14" name="bullet-1"/>
          <p:cNvSpPr/>
          <p:nvPr/>
        </p:nvSpPr>
        <p:spPr>
          <a:xfrm>
            <a:off x="1200150" y="1881039"/>
            <a:ext cx="0" cy="291465"/>
          </a:xfrm>
          <a:prstGeom prst="line">
            <a:avLst/>
          </a:prstGeom>
          <a:noFill/>
          <a:ln w="571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15" name="bullet-1"/>
          <p:cNvSpPr/>
          <p:nvPr/>
        </p:nvSpPr>
        <p:spPr>
          <a:xfrm>
            <a:off x="384620" y="1881039"/>
            <a:ext cx="82524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E53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1420</a:t>
            </a:r>
            <a:endParaRPr lang="en-US" sz="1710" dirty="0"/>
          </a:p>
        </p:txBody>
      </p:sp>
      <p:sp>
        <p:nvSpPr>
          <p:cNvPr id="16" name="bullet-1"/>
          <p:cNvSpPr/>
          <p:nvPr/>
        </p:nvSpPr>
        <p:spPr>
          <a:xfrm>
            <a:off x="700088" y="2155359"/>
            <a:ext cx="194310" cy="1714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bullet-1"/>
          <p:cNvSpPr/>
          <p:nvPr/>
        </p:nvSpPr>
        <p:spPr>
          <a:xfrm>
            <a:off x="1325880" y="1774025"/>
            <a:ext cx="28575" cy="914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8" name="bullet-1"/>
          <p:cNvSpPr/>
          <p:nvPr/>
        </p:nvSpPr>
        <p:spPr>
          <a:xfrm>
            <a:off x="1405890" y="1728877"/>
            <a:ext cx="1161484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35" b="1" dirty="0">
                <a:solidFill>
                  <a:srgbClr val="2B1B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帝王禁地 · 紫禁城</a:t>
            </a:r>
            <a:endParaRPr lang="en-US" sz="1035" dirty="0"/>
          </a:p>
        </p:txBody>
      </p:sp>
      <p:sp>
        <p:nvSpPr>
          <p:cNvPr id="19" name="bullet-1"/>
          <p:cNvSpPr/>
          <p:nvPr/>
        </p:nvSpPr>
        <p:spPr>
          <a:xfrm>
            <a:off x="1325880" y="1969175"/>
            <a:ext cx="2323490" cy="349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10" dirty="0">
                <a:solidFill>
                  <a:srgbClr val="5C4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明永乐十八年（1420 年）建成，此后为明清两代皇宫，旧称紫禁城。</a:t>
            </a:r>
            <a:endParaRPr lang="en-US" sz="810" dirty="0"/>
          </a:p>
        </p:txBody>
      </p:sp>
      <p:sp>
        <p:nvSpPr>
          <p:cNvPr id="20" name="bullet-2"/>
          <p:cNvSpPr/>
          <p:nvPr/>
        </p:nvSpPr>
        <p:spPr>
          <a:xfrm>
            <a:off x="342900" y="2920901"/>
            <a:ext cx="3200400" cy="1559659"/>
          </a:xfrm>
          <a:prstGeom prst="rect">
            <a:avLst/>
          </a:prstGeom>
          <a:solidFill>
            <a:srgbClr val="FFFDF6"/>
          </a:solidFill>
          <a:ln w="34290">
            <a:solidFill>
              <a:srgbClr val="E53935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8575" dir="16200000">
              <a:srgbClr val="2B1B12">
                <a:alpha val="6000"/>
              </a:srgbClr>
            </a:outerShdw>
          </a:effectLst>
        </p:spPr>
      </p:sp>
      <p:sp>
        <p:nvSpPr>
          <p:cNvPr id="21" name="bullet-2"/>
          <p:cNvSpPr/>
          <p:nvPr/>
        </p:nvSpPr>
        <p:spPr>
          <a:xfrm>
            <a:off x="514350" y="3554998"/>
            <a:ext cx="685800" cy="291465"/>
          </a:xfrm>
          <a:prstGeom prst="rect">
            <a:avLst/>
          </a:prstGeom>
          <a:noFill/>
          <a:ln/>
        </p:spPr>
      </p:sp>
      <p:sp>
        <p:nvSpPr>
          <p:cNvPr id="22" name="bullet-2"/>
          <p:cNvSpPr/>
          <p:nvPr/>
        </p:nvSpPr>
        <p:spPr>
          <a:xfrm>
            <a:off x="1200150" y="3554998"/>
            <a:ext cx="0" cy="291465"/>
          </a:xfrm>
          <a:prstGeom prst="line">
            <a:avLst/>
          </a:prstGeom>
          <a:noFill/>
          <a:ln w="571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23" name="bullet-2"/>
          <p:cNvSpPr/>
          <p:nvPr/>
        </p:nvSpPr>
        <p:spPr>
          <a:xfrm>
            <a:off x="384620" y="3554998"/>
            <a:ext cx="825246" cy="2171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10" b="1" dirty="0">
                <a:solidFill>
                  <a:srgbClr val="E53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1925</a:t>
            </a:r>
            <a:endParaRPr lang="en-US" sz="1710" dirty="0"/>
          </a:p>
        </p:txBody>
      </p:sp>
      <p:sp>
        <p:nvSpPr>
          <p:cNvPr id="24" name="bullet-2"/>
          <p:cNvSpPr/>
          <p:nvPr/>
        </p:nvSpPr>
        <p:spPr>
          <a:xfrm>
            <a:off x="700088" y="3829318"/>
            <a:ext cx="194310" cy="1714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bullet-2"/>
          <p:cNvSpPr/>
          <p:nvPr/>
        </p:nvSpPr>
        <p:spPr>
          <a:xfrm>
            <a:off x="1325880" y="3447985"/>
            <a:ext cx="28575" cy="914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bullet-2"/>
          <p:cNvSpPr/>
          <p:nvPr/>
        </p:nvSpPr>
        <p:spPr>
          <a:xfrm>
            <a:off x="1405890" y="3402836"/>
            <a:ext cx="1448081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35" b="1" dirty="0">
                <a:solidFill>
                  <a:srgbClr val="2B1B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公众可入 · 故宫博物院</a:t>
            </a:r>
            <a:endParaRPr lang="en-US" sz="1035" dirty="0"/>
          </a:p>
        </p:txBody>
      </p:sp>
      <p:sp>
        <p:nvSpPr>
          <p:cNvPr id="27" name="bullet-2"/>
          <p:cNvSpPr/>
          <p:nvPr/>
        </p:nvSpPr>
        <p:spPr>
          <a:xfrm>
            <a:off x="1325880" y="3643134"/>
            <a:ext cx="2323490" cy="349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10" dirty="0">
                <a:solidFill>
                  <a:srgbClr val="5C48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1925 年 10 月 10 日故宫博物院成立并对公众开放；1987 年列入《世界遗产名录》。</a:t>
            </a:r>
            <a:endParaRPr lang="en-US" sz="810" dirty="0"/>
          </a:p>
        </p:txBody>
      </p:sp>
      <p:sp>
        <p:nvSpPr>
          <p:cNvPr id="28" name="image-1"/>
          <p:cNvSpPr/>
          <p:nvPr/>
        </p:nvSpPr>
        <p:spPr>
          <a:xfrm>
            <a:off x="3771900" y="1246942"/>
            <a:ext cx="5029200" cy="3036451"/>
          </a:xfrm>
          <a:prstGeom prst="rect">
            <a:avLst/>
          </a:prstGeom>
          <a:solidFill>
            <a:srgbClr val="FFFDF6"/>
          </a:solidFill>
          <a:ln w="5715">
            <a:solidFill>
              <a:srgbClr val="C9A227"/>
            </a:solidFill>
            <a:prstDash val="solid"/>
          </a:ln>
          <a:effectLst>
            <a:outerShdw sx="100000" sy="100000" kx="0" ky="0" algn="bl" rotWithShape="0" blurRad="285750" dist="114300" dir="16200000">
              <a:srgbClr val="2B1B12">
                <a:alpha val="16000"/>
              </a:srgbClr>
            </a:outerShdw>
          </a:effectLst>
        </p:spPr>
      </p:sp>
      <p:pic>
        <p:nvPicPr>
          <p:cNvPr id="29" name="image-1" descr="preencoded.png">    </p:cNvPr>
          <p:cNvPicPr>
            <a:picLocks noChangeAspect="1"/>
          </p:cNvPicPr>
          <p:nvPr/>
        </p:nvPicPr>
        <p:blipFill>
          <a:blip r:embed="rId2"/>
          <a:srcRect l="2620" r="2620" t="0" b="0"/>
          <a:stretch/>
        </p:blipFill>
        <p:spPr>
          <a:xfrm>
            <a:off x="3834765" y="1309807"/>
            <a:ext cx="4903470" cy="2910721"/>
          </a:xfrm>
          <a:prstGeom prst="rect">
            <a:avLst/>
          </a:prstGeom>
        </p:spPr>
      </p:pic>
      <p:sp>
        <p:nvSpPr>
          <p:cNvPr id="30" name="image-1"/>
          <p:cNvSpPr/>
          <p:nvPr/>
        </p:nvSpPr>
        <p:spPr>
          <a:xfrm>
            <a:off x="3771900" y="4351973"/>
            <a:ext cx="114300" cy="1714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image-1"/>
          <p:cNvSpPr/>
          <p:nvPr/>
        </p:nvSpPr>
        <p:spPr>
          <a:xfrm>
            <a:off x="3943350" y="4351973"/>
            <a:ext cx="1248156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8A77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自景山俯瞰紫禁城建筑群全景</a:t>
            </a:r>
            <a:endParaRPr lang="en-US" sz="675" dirty="0"/>
          </a:p>
        </p:txBody>
      </p:sp>
      <p:sp>
        <p:nvSpPr>
          <p:cNvPr id="32" name="footer"/>
          <p:cNvSpPr/>
          <p:nvPr/>
        </p:nvSpPr>
        <p:spPr>
          <a:xfrm>
            <a:off x="342900" y="4606290"/>
            <a:ext cx="8458200" cy="194310"/>
          </a:xfrm>
          <a:prstGeom prst="rect">
            <a:avLst/>
          </a:prstGeom>
          <a:noFill/>
          <a:ln/>
        </p:spPr>
      </p:sp>
      <p:sp>
        <p:nvSpPr>
          <p:cNvPr id="33" name="footer"/>
          <p:cNvSpPr/>
          <p:nvPr/>
        </p:nvSpPr>
        <p:spPr>
          <a:xfrm>
            <a:off x="342900" y="4606290"/>
            <a:ext cx="8458200" cy="0"/>
          </a:xfrm>
          <a:prstGeom prst="line">
            <a:avLst/>
          </a:prstGeom>
          <a:noFill/>
          <a:ln w="5715">
            <a:solidFill>
              <a:srgbClr val="C9A227">
                <a:alpha val="65000"/>
              </a:srgbClr>
            </a:solidFill>
            <a:prstDash val="solid"/>
          </a:ln>
        </p:spPr>
      </p:sp>
      <p:sp>
        <p:nvSpPr>
          <p:cNvPr id="34" name="footer"/>
          <p:cNvSpPr/>
          <p:nvPr/>
        </p:nvSpPr>
        <p:spPr>
          <a:xfrm>
            <a:off x="342900" y="4680585"/>
            <a:ext cx="234219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8A77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出处：人民日报海外版《故宫的“三大殿”》（2023-05-26）</a:t>
            </a:r>
            <a:endParaRPr lang="en-US" sz="630" dirty="0"/>
          </a:p>
        </p:txBody>
      </p:sp>
      <p:sp>
        <p:nvSpPr>
          <p:cNvPr id="35" name="footer"/>
          <p:cNvSpPr/>
          <p:nvPr/>
        </p:nvSpPr>
        <p:spPr>
          <a:xfrm>
            <a:off x="6469201" y="4680585"/>
            <a:ext cx="261172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dirty="0">
                <a:solidFill>
                  <a:srgbClr val="8A776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图片来自 Wikimedia Commons，作者、许可版本与来源页待核实</a:t>
            </a:r>
            <a:endParaRPr lang="en-US" sz="6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>
              <a:alpha val="7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42900" y="274320"/>
            <a:ext cx="8458200" cy="877163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342900" y="1151483"/>
            <a:ext cx="8458200" cy="0"/>
          </a:xfrm>
          <a:prstGeom prst="line">
            <a:avLst/>
          </a:prstGeom>
          <a:noFill/>
          <a:ln w="5715">
            <a:solidFill>
              <a:srgbClr val="C9A227">
                <a:alpha val="55000"/>
              </a:srgbClr>
            </a:solidFill>
            <a:prstDash val="solid"/>
          </a:ln>
        </p:spPr>
      </p:sp>
      <p:sp>
        <p:nvSpPr>
          <p:cNvPr id="5" name="eyebrow"/>
          <p:cNvSpPr/>
          <p:nvPr/>
        </p:nvSpPr>
        <p:spPr>
          <a:xfrm>
            <a:off x="342900" y="303163"/>
            <a:ext cx="68580" cy="685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eyebrow"/>
          <p:cNvSpPr/>
          <p:nvPr/>
        </p:nvSpPr>
        <p:spPr>
          <a:xfrm>
            <a:off x="480060" y="274320"/>
            <a:ext cx="1450481" cy="1262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65" spc="270" kern="0" dirty="0">
                <a:solidFill>
                  <a:srgbClr val="E539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中轴与秩序</a:t>
            </a:r>
            <a:endParaRPr lang="en-US" sz="765" dirty="0"/>
          </a:p>
        </p:txBody>
      </p:sp>
      <p:sp>
        <p:nvSpPr>
          <p:cNvPr id="7" name="title"/>
          <p:cNvSpPr/>
          <p:nvPr/>
        </p:nvSpPr>
        <p:spPr>
          <a:xfrm>
            <a:off x="342900" y="457736"/>
            <a:ext cx="9473184" cy="3679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520" b="1" spc="135" kern="0" dirty="0">
                <a:solidFill>
                  <a:srgbClr val="2B21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一条中轴，读懂宫城秩序</a:t>
            </a:r>
            <a:endParaRPr lang="en-US" sz="2520" dirty="0"/>
          </a:p>
        </p:txBody>
      </p:sp>
      <p:sp>
        <p:nvSpPr>
          <p:cNvPr id="8" name="narrative"/>
          <p:cNvSpPr/>
          <p:nvPr/>
        </p:nvSpPr>
        <p:spPr>
          <a:xfrm>
            <a:off x="342900" y="882878"/>
            <a:ext cx="9473184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spc="23" kern="0" dirty="0">
                <a:solidFill>
                  <a:srgbClr val="5C4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故宫的秩序感，来自一条贯穿南北的中轴线，以及“外朝在前、内廷在后”的功能分区。</a:t>
            </a:r>
            <a:endParaRPr lang="en-US" sz="900" dirty="0"/>
          </a:p>
        </p:txBody>
      </p:sp>
      <p:sp>
        <p:nvSpPr>
          <p:cNvPr id="9" name="image-1"/>
          <p:cNvSpPr/>
          <p:nvPr/>
        </p:nvSpPr>
        <p:spPr>
          <a:xfrm>
            <a:off x="342900" y="1288643"/>
            <a:ext cx="3771900" cy="2663190"/>
          </a:xfrm>
          <a:prstGeom prst="rect">
            <a:avLst/>
          </a:prstGeom>
          <a:solidFill>
            <a:srgbClr val="FFFDF6"/>
          </a:solidFill>
          <a:ln w="5715">
            <a:solidFill>
              <a:srgbClr val="C9A227">
                <a:alpha val="75000"/>
              </a:srgbClr>
            </a:solidFill>
            <a:prstDash val="solid"/>
          </a:ln>
        </p:spPr>
      </p:sp>
      <p:pic>
        <p:nvPicPr>
          <p:cNvPr id="10" name="image-1" descr="preencoded.png">    </p:cNvPr>
          <p:cNvPicPr>
            <a:picLocks noChangeAspect="1"/>
          </p:cNvPicPr>
          <p:nvPr/>
        </p:nvPicPr>
        <p:blipFill>
          <a:blip r:embed="rId2"/>
          <a:srcRect l="4371" r="4371" t="0" b="0"/>
          <a:stretch/>
        </p:blipFill>
        <p:spPr>
          <a:xfrm>
            <a:off x="417195" y="1362938"/>
            <a:ext cx="3623310" cy="2514600"/>
          </a:xfrm>
          <a:prstGeom prst="rect">
            <a:avLst/>
          </a:prstGeom>
        </p:spPr>
      </p:pic>
      <p:sp>
        <p:nvSpPr>
          <p:cNvPr id="11" name="image-1"/>
          <p:cNvSpPr/>
          <p:nvPr/>
        </p:nvSpPr>
        <p:spPr>
          <a:xfrm>
            <a:off x="342900" y="4031843"/>
            <a:ext cx="3771900" cy="297984"/>
          </a:xfrm>
          <a:prstGeom prst="rect">
            <a:avLst/>
          </a:prstGeom>
          <a:noFill/>
          <a:ln/>
        </p:spPr>
      </p:sp>
      <p:sp>
        <p:nvSpPr>
          <p:cNvPr id="12" name="image-1"/>
          <p:cNvSpPr/>
          <p:nvPr/>
        </p:nvSpPr>
        <p:spPr>
          <a:xfrm>
            <a:off x="342900" y="4031843"/>
            <a:ext cx="0" cy="297984"/>
          </a:xfrm>
          <a:prstGeom prst="line">
            <a:avLst/>
          </a:prstGeom>
          <a:noFill/>
          <a:ln w="17145">
            <a:solidFill>
              <a:srgbClr val="E53935"/>
            </a:solidFill>
            <a:prstDash val="solid"/>
          </a:ln>
        </p:spPr>
      </p:sp>
      <p:sp>
        <p:nvSpPr>
          <p:cNvPr id="13" name="image-1"/>
          <p:cNvSpPr/>
          <p:nvPr/>
        </p:nvSpPr>
        <p:spPr>
          <a:xfrm>
            <a:off x="440055" y="4031843"/>
            <a:ext cx="4115714" cy="1465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55" spc="90" kern="0" dirty="0">
                <a:solidFill>
                  <a:srgbClr val="2B21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太和殿正面</a:t>
            </a:r>
            <a:endParaRPr lang="en-US" sz="855" dirty="0"/>
          </a:p>
        </p:txBody>
      </p:sp>
      <p:sp>
        <p:nvSpPr>
          <p:cNvPr id="14" name="image-1"/>
          <p:cNvSpPr/>
          <p:nvPr/>
        </p:nvSpPr>
        <p:spPr>
          <a:xfrm>
            <a:off x="440055" y="4201239"/>
            <a:ext cx="4115714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23" kern="0" dirty="0">
                <a:solidFill>
                  <a:srgbClr val="5C4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外朝三大殿之首，居紫禁城南北中轴线</a:t>
            </a:r>
            <a:endParaRPr lang="en-US" sz="675" dirty="0"/>
          </a:p>
        </p:txBody>
      </p:sp>
      <p:sp>
        <p:nvSpPr>
          <p:cNvPr id="15" name="Shape 12"/>
          <p:cNvSpPr/>
          <p:nvPr/>
        </p:nvSpPr>
        <p:spPr>
          <a:xfrm>
            <a:off x="4446270" y="2350026"/>
            <a:ext cx="11430" cy="1149072"/>
          </a:xfrm>
          <a:prstGeom prst="rect">
            <a:avLst/>
          </a:prstGeom>
          <a:gradFill rotWithShape="1">
            <a:gsLst>
              <a:gs pos="0">
                <a:srgbClr val="E53935"/>
              </a:gs>
              <a:gs pos="100000">
                <a:srgbClr val="C9A227"/>
              </a:gs>
            </a:gsLst>
            <a:lin ang="5400000" scaled="0"/>
          </a:gradFill>
          <a:ln/>
        </p:spPr>
      </p:sp>
      <p:sp>
        <p:nvSpPr>
          <p:cNvPr id="16" name="bullet-1"/>
          <p:cNvSpPr/>
          <p:nvPr/>
        </p:nvSpPr>
        <p:spPr>
          <a:xfrm>
            <a:off x="4406265" y="2304306"/>
            <a:ext cx="114300" cy="114300"/>
          </a:xfrm>
          <a:prstGeom prst="rect">
            <a:avLst/>
          </a:prstGeom>
          <a:solidFill>
            <a:srgbClr val="E53935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17" name="bullet-1"/>
          <p:cNvSpPr/>
          <p:nvPr/>
        </p:nvSpPr>
        <p:spPr>
          <a:xfrm>
            <a:off x="4629150" y="2270016"/>
            <a:ext cx="4672584" cy="1619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90" kern="0" dirty="0">
                <a:solidFill>
                  <a:srgbClr val="2B21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三大殿 · 中轴展开</a:t>
            </a:r>
            <a:endParaRPr lang="en-US" sz="945" dirty="0"/>
          </a:p>
        </p:txBody>
      </p:sp>
      <p:sp>
        <p:nvSpPr>
          <p:cNvPr id="18" name="bullet-1"/>
          <p:cNvSpPr/>
          <p:nvPr/>
        </p:nvSpPr>
        <p:spPr>
          <a:xfrm>
            <a:off x="4629150" y="2466290"/>
            <a:ext cx="4672584" cy="349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10" spc="14" kern="0" dirty="0">
                <a:solidFill>
                  <a:srgbClr val="5C4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宫城以太和殿、中和殿、保和殿三大殿为核心，主要建筑沿南北中轴线依次展开，左右对称。</a:t>
            </a:r>
            <a:endParaRPr lang="en-US" sz="810" dirty="0"/>
          </a:p>
        </p:txBody>
      </p:sp>
      <p:sp>
        <p:nvSpPr>
          <p:cNvPr id="19" name="bullet-2"/>
          <p:cNvSpPr/>
          <p:nvPr/>
        </p:nvSpPr>
        <p:spPr>
          <a:xfrm>
            <a:off x="4406265" y="2987427"/>
            <a:ext cx="114300" cy="114300"/>
          </a:xfrm>
          <a:prstGeom prst="rect">
            <a:avLst/>
          </a:prstGeom>
          <a:solidFill>
            <a:srgbClr val="E53935"/>
          </a:solidFill>
          <a:ln w="11430">
            <a:solidFill>
              <a:srgbClr val="C9A227"/>
            </a:solidFill>
            <a:prstDash val="solid"/>
          </a:ln>
        </p:spPr>
      </p:sp>
      <p:sp>
        <p:nvSpPr>
          <p:cNvPr id="20" name="bullet-2"/>
          <p:cNvSpPr/>
          <p:nvPr/>
        </p:nvSpPr>
        <p:spPr>
          <a:xfrm>
            <a:off x="4629150" y="2953137"/>
            <a:ext cx="4672584" cy="1619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5" b="1" spc="90" kern="0" dirty="0">
                <a:solidFill>
                  <a:srgbClr val="2B21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外朝在前 · 内廷在后</a:t>
            </a:r>
            <a:endParaRPr lang="en-US" sz="945" dirty="0"/>
          </a:p>
        </p:txBody>
      </p:sp>
      <p:sp>
        <p:nvSpPr>
          <p:cNvPr id="21" name="bullet-2"/>
          <p:cNvSpPr/>
          <p:nvPr/>
        </p:nvSpPr>
        <p:spPr>
          <a:xfrm>
            <a:off x="4629150" y="3149411"/>
            <a:ext cx="4672584" cy="3496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10" spc="14" kern="0" dirty="0">
                <a:solidFill>
                  <a:srgbClr val="5C4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三大殿与东西两侧文华殿、武英殿等合称“外朝”，其北为“内廷”——外朝在前、内廷在后，同处一条中轴，前后相承、功能分明。</a:t>
            </a:r>
            <a:endParaRPr lang="en-US" sz="810" dirty="0"/>
          </a:p>
        </p:txBody>
      </p:sp>
      <p:sp>
        <p:nvSpPr>
          <p:cNvPr id="22" name="footer"/>
          <p:cNvSpPr/>
          <p:nvPr/>
        </p:nvSpPr>
        <p:spPr>
          <a:xfrm>
            <a:off x="342900" y="4617720"/>
            <a:ext cx="8458200" cy="182880"/>
          </a:xfrm>
          <a:prstGeom prst="rect">
            <a:avLst/>
          </a:prstGeom>
          <a:noFill/>
          <a:ln/>
        </p:spPr>
      </p:sp>
      <p:sp>
        <p:nvSpPr>
          <p:cNvPr id="23" name="footer"/>
          <p:cNvSpPr/>
          <p:nvPr/>
        </p:nvSpPr>
        <p:spPr>
          <a:xfrm>
            <a:off x="342900" y="4617720"/>
            <a:ext cx="8458200" cy="0"/>
          </a:xfrm>
          <a:prstGeom prst="line">
            <a:avLst/>
          </a:prstGeom>
          <a:noFill/>
          <a:ln w="5715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24" name="footer"/>
          <p:cNvSpPr/>
          <p:nvPr/>
        </p:nvSpPr>
        <p:spPr>
          <a:xfrm>
            <a:off x="342900" y="4617720"/>
            <a:ext cx="9473184" cy="182880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0" spc="23" kern="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出处：故宫博物院官网《太和殿》《中和殿》；光明日报《从细节来阅读故宫历史》。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>
              <a:alpha val="7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gradFill rotWithShape="1">
            <a:gsLst>
              <a:gs pos="0">
                <a:srgbClr val="E53935"/>
              </a:gs>
              <a:gs pos="100000">
                <a:srgbClr val="C9A227"/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gradFill rotWithShape="1">
            <a:gsLst>
              <a:gs pos="0">
                <a:srgbClr val="C9A227"/>
              </a:gs>
              <a:gs pos="100000">
                <a:srgbClr val="E53935"/>
              </a:gs>
            </a:gsLst>
            <a:lin ang="0" scaled="0"/>
          </a:gradFill>
          <a:ln/>
        </p:spPr>
      </p:sp>
      <p:sp>
        <p:nvSpPr>
          <p:cNvPr id="5" name="eyebrow"/>
          <p:cNvSpPr/>
          <p:nvPr/>
        </p:nvSpPr>
        <p:spPr>
          <a:xfrm>
            <a:off x="342900" y="339150"/>
            <a:ext cx="205740" cy="1143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6" name="eyebrow"/>
          <p:cNvSpPr/>
          <p:nvPr/>
        </p:nvSpPr>
        <p:spPr>
          <a:xfrm>
            <a:off x="617220" y="274320"/>
            <a:ext cx="1427078" cy="14108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5" spc="135" kern="0" dirty="0">
                <a:solidFill>
                  <a:srgbClr val="5C4B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故宫博物院 · 院藏珍品</a:t>
            </a:r>
            <a:endParaRPr lang="en-US" sz="855" dirty="0"/>
          </a:p>
        </p:txBody>
      </p:sp>
      <p:sp>
        <p:nvSpPr>
          <p:cNvPr id="7" name="title"/>
          <p:cNvSpPr/>
          <p:nvPr/>
        </p:nvSpPr>
        <p:spPr>
          <a:xfrm>
            <a:off x="342900" y="455414"/>
            <a:ext cx="1908810" cy="4400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30" b="1" spc="90" kern="0" dirty="0">
                <a:solidFill>
                  <a:srgbClr val="2B21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从宫廷旧藏</a:t>
            </a:r>
            <a:endParaRPr lang="en-US" sz="2430" dirty="0"/>
          </a:p>
        </p:txBody>
      </p:sp>
      <p:sp>
        <p:nvSpPr>
          <p:cNvPr id="8" name="title"/>
          <p:cNvSpPr/>
          <p:nvPr/>
        </p:nvSpPr>
        <p:spPr>
          <a:xfrm>
            <a:off x="1943100" y="455414"/>
            <a:ext cx="2548890" cy="4400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30" b="1" spc="90" kern="0" dirty="0">
                <a:solidFill>
                  <a:srgbClr val="E539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到公共文化宝库</a:t>
            </a:r>
            <a:endParaRPr lang="en-US" sz="2430" dirty="0"/>
          </a:p>
        </p:txBody>
      </p:sp>
      <p:sp>
        <p:nvSpPr>
          <p:cNvPr id="9" name="Shape 7"/>
          <p:cNvSpPr/>
          <p:nvPr/>
        </p:nvSpPr>
        <p:spPr>
          <a:xfrm>
            <a:off x="342900" y="951012"/>
            <a:ext cx="548640" cy="1714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eal-1"/>
          <p:cNvSpPr/>
          <p:nvPr/>
        </p:nvSpPr>
        <p:spPr>
          <a:xfrm>
            <a:off x="4857750" y="308610"/>
            <a:ext cx="422910" cy="422910"/>
          </a:xfrm>
          <a:prstGeom prst="rect">
            <a:avLst/>
          </a:prstGeom>
          <a:solidFill>
            <a:srgbClr val="E53935"/>
          </a:solidFill>
          <a:ln w="11430">
            <a:solidFill>
              <a:srgbClr val="C9A227"/>
            </a:solidFill>
            <a:prstDash val="solid"/>
          </a:ln>
          <a:effectLst>
            <a:outerShdw sx="100000" sy="100000" kx="0" ky="0" algn="bl" rotWithShape="0" blurRad="152400" dist="57150" dir="16200000">
              <a:srgbClr val="2B2118">
                <a:alpha val="18000"/>
              </a:srgbClr>
            </a:outerShdw>
          </a:effectLst>
        </p:spPr>
      </p:sp>
      <p:sp>
        <p:nvSpPr>
          <p:cNvPr id="11" name="seal-1"/>
          <p:cNvSpPr/>
          <p:nvPr/>
        </p:nvSpPr>
        <p:spPr>
          <a:xfrm>
            <a:off x="4986338" y="347722"/>
            <a:ext cx="331470" cy="1723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5" dirty="0">
                <a:solidFill>
                  <a:srgbClr val="FFF8E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永</a:t>
            </a:r>
            <a:endParaRPr lang="en-US" sz="1305" dirty="0"/>
          </a:p>
        </p:txBody>
      </p:sp>
      <p:sp>
        <p:nvSpPr>
          <p:cNvPr id="12" name="seal-1"/>
          <p:cNvSpPr/>
          <p:nvPr/>
        </p:nvSpPr>
        <p:spPr>
          <a:xfrm>
            <a:off x="4986338" y="520065"/>
            <a:ext cx="331470" cy="17234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5" dirty="0">
                <a:solidFill>
                  <a:srgbClr val="FFF8E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固</a:t>
            </a:r>
            <a:endParaRPr lang="en-US" sz="1305" dirty="0"/>
          </a:p>
        </p:txBody>
      </p:sp>
      <p:sp>
        <p:nvSpPr>
          <p:cNvPr id="13" name="narrative"/>
          <p:cNvSpPr/>
          <p:nvPr/>
        </p:nvSpPr>
        <p:spPr>
          <a:xfrm>
            <a:off x="342900" y="1116747"/>
            <a:ext cx="4937760" cy="427375"/>
          </a:xfrm>
          <a:prstGeom prst="rect">
            <a:avLst/>
          </a:prstGeom>
          <a:noFill/>
          <a:ln/>
        </p:spPr>
      </p:sp>
      <p:sp>
        <p:nvSpPr>
          <p:cNvPr id="14" name="narrative"/>
          <p:cNvSpPr/>
          <p:nvPr/>
        </p:nvSpPr>
        <p:spPr>
          <a:xfrm>
            <a:off x="342900" y="1116747"/>
            <a:ext cx="0" cy="427375"/>
          </a:xfrm>
          <a:prstGeom prst="line">
            <a:avLst/>
          </a:prstGeom>
          <a:noFill/>
          <a:ln w="22860">
            <a:solidFill>
              <a:srgbClr val="E53935"/>
            </a:solidFill>
            <a:prstDash val="solid"/>
          </a:ln>
        </p:spPr>
      </p:sp>
      <p:sp>
        <p:nvSpPr>
          <p:cNvPr id="15" name="narrative"/>
          <p:cNvSpPr/>
          <p:nvPr/>
        </p:nvSpPr>
        <p:spPr>
          <a:xfrm>
            <a:off x="342900" y="1116747"/>
            <a:ext cx="5530291" cy="427375"/>
          </a:xfrm>
          <a:prstGeom prst="rect">
            <a:avLst/>
          </a:prstGeom>
          <a:noFill/>
          <a:ln/>
        </p:spPr>
        <p:txBody>
          <a:bodyPr wrap="square" lIns="0" tIns="11430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90" spc="23" kern="0" dirty="0">
                <a:solidFill>
                  <a:srgbClr val="5C4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金瓯永固杯出自清代宫廷造办处，集錾刻与镶嵌工艺于一身，是宫廷旧藏走向公共文化宝库的一个缩影。</a:t>
            </a:r>
            <a:endParaRPr lang="en-US" sz="990" dirty="0"/>
          </a:p>
        </p:txBody>
      </p:sp>
      <p:sp>
        <p:nvSpPr>
          <p:cNvPr id="16" name="bullet-1"/>
          <p:cNvSpPr/>
          <p:nvPr/>
        </p:nvSpPr>
        <p:spPr>
          <a:xfrm>
            <a:off x="342900" y="1692712"/>
            <a:ext cx="4937760" cy="590074"/>
          </a:xfrm>
          <a:prstGeom prst="rect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17" name="bullet-1"/>
          <p:cNvSpPr/>
          <p:nvPr/>
        </p:nvSpPr>
        <p:spPr>
          <a:xfrm>
            <a:off x="342900" y="2282785"/>
            <a:ext cx="4937760" cy="0"/>
          </a:xfrm>
          <a:prstGeom prst="line">
            <a:avLst/>
          </a:prstGeom>
          <a:noFill/>
          <a:ln w="571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18" name="bullet-1"/>
          <p:cNvSpPr/>
          <p:nvPr/>
        </p:nvSpPr>
        <p:spPr>
          <a:xfrm>
            <a:off x="342900" y="1692712"/>
            <a:ext cx="0" cy="590074"/>
          </a:xfrm>
          <a:prstGeom prst="line">
            <a:avLst/>
          </a:prstGeom>
          <a:noFill/>
          <a:ln w="1714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19" name="bullet-1"/>
          <p:cNvSpPr/>
          <p:nvPr/>
        </p:nvSpPr>
        <p:spPr>
          <a:xfrm>
            <a:off x="485775" y="1841302"/>
            <a:ext cx="51435" cy="5143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0" name="bullet-1"/>
          <p:cNvSpPr/>
          <p:nvPr/>
        </p:nvSpPr>
        <p:spPr>
          <a:xfrm>
            <a:off x="594360" y="1784152"/>
            <a:ext cx="60579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68" kern="0" dirty="0">
                <a:solidFill>
                  <a:srgbClr val="A887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宫廷工艺</a:t>
            </a:r>
            <a:endParaRPr lang="en-US" sz="900" dirty="0"/>
          </a:p>
        </p:txBody>
      </p:sp>
      <p:sp>
        <p:nvSpPr>
          <p:cNvPr id="21" name="bullet-1"/>
          <p:cNvSpPr/>
          <p:nvPr/>
        </p:nvSpPr>
        <p:spPr>
          <a:xfrm>
            <a:off x="485775" y="1995607"/>
            <a:ext cx="5370271" cy="1900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2B21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錾刻宝相花、镶嵌珍珠与红蓝宝石，龙耳与象首足皆精工细作，体现清宫造办处的金器工艺水准。</a:t>
            </a:r>
            <a:endParaRPr lang="en-US" sz="855" dirty="0"/>
          </a:p>
        </p:txBody>
      </p:sp>
      <p:sp>
        <p:nvSpPr>
          <p:cNvPr id="22" name="bullet-2"/>
          <p:cNvSpPr/>
          <p:nvPr/>
        </p:nvSpPr>
        <p:spPr>
          <a:xfrm>
            <a:off x="342900" y="2385655"/>
            <a:ext cx="4937760" cy="590074"/>
          </a:xfrm>
          <a:prstGeom prst="rect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23" name="bullet-2"/>
          <p:cNvSpPr/>
          <p:nvPr/>
        </p:nvSpPr>
        <p:spPr>
          <a:xfrm>
            <a:off x="342900" y="2975729"/>
            <a:ext cx="4937760" cy="0"/>
          </a:xfrm>
          <a:prstGeom prst="line">
            <a:avLst/>
          </a:prstGeom>
          <a:noFill/>
          <a:ln w="571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24" name="bullet-2"/>
          <p:cNvSpPr/>
          <p:nvPr/>
        </p:nvSpPr>
        <p:spPr>
          <a:xfrm>
            <a:off x="342900" y="2385655"/>
            <a:ext cx="0" cy="590074"/>
          </a:xfrm>
          <a:prstGeom prst="line">
            <a:avLst/>
          </a:prstGeom>
          <a:noFill/>
          <a:ln w="1714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25" name="bullet-2"/>
          <p:cNvSpPr/>
          <p:nvPr/>
        </p:nvSpPr>
        <p:spPr>
          <a:xfrm>
            <a:off x="485775" y="2534245"/>
            <a:ext cx="51435" cy="5143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26" name="bullet-2"/>
          <p:cNvSpPr/>
          <p:nvPr/>
        </p:nvSpPr>
        <p:spPr>
          <a:xfrm>
            <a:off x="594360" y="2477095"/>
            <a:ext cx="728663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68" kern="0" dirty="0">
                <a:solidFill>
                  <a:srgbClr val="A887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款识与制作</a:t>
            </a:r>
            <a:endParaRPr lang="en-US" sz="900" dirty="0"/>
          </a:p>
        </p:txBody>
      </p:sp>
      <p:sp>
        <p:nvSpPr>
          <p:cNvPr id="27" name="bullet-2"/>
          <p:cNvSpPr/>
          <p:nvPr/>
        </p:nvSpPr>
        <p:spPr>
          <a:xfrm>
            <a:off x="485775" y="2688550"/>
            <a:ext cx="5370271" cy="1900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2B21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一面錾篆书“金瓯永固”，一面錾“乾隆年制”四字款，为清代宫廷造办处制作、皇帝专用的酒杯。</a:t>
            </a:r>
            <a:endParaRPr lang="en-US" sz="855" dirty="0"/>
          </a:p>
        </p:txBody>
      </p:sp>
      <p:sp>
        <p:nvSpPr>
          <p:cNvPr id="28" name="bullet-3"/>
          <p:cNvSpPr/>
          <p:nvPr/>
        </p:nvSpPr>
        <p:spPr>
          <a:xfrm>
            <a:off x="342900" y="3078599"/>
            <a:ext cx="4937760" cy="590074"/>
          </a:xfrm>
          <a:prstGeom prst="rect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29" name="bullet-3"/>
          <p:cNvSpPr/>
          <p:nvPr/>
        </p:nvSpPr>
        <p:spPr>
          <a:xfrm>
            <a:off x="342900" y="3668673"/>
            <a:ext cx="4937760" cy="0"/>
          </a:xfrm>
          <a:prstGeom prst="line">
            <a:avLst/>
          </a:prstGeom>
          <a:noFill/>
          <a:ln w="571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30" name="bullet-3"/>
          <p:cNvSpPr/>
          <p:nvPr/>
        </p:nvSpPr>
        <p:spPr>
          <a:xfrm>
            <a:off x="342900" y="3078599"/>
            <a:ext cx="0" cy="590074"/>
          </a:xfrm>
          <a:prstGeom prst="line">
            <a:avLst/>
          </a:prstGeom>
          <a:noFill/>
          <a:ln w="1714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31" name="bullet-3"/>
          <p:cNvSpPr/>
          <p:nvPr/>
        </p:nvSpPr>
        <p:spPr>
          <a:xfrm>
            <a:off x="485775" y="3227189"/>
            <a:ext cx="51435" cy="51435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32" name="bullet-3"/>
          <p:cNvSpPr/>
          <p:nvPr/>
        </p:nvSpPr>
        <p:spPr>
          <a:xfrm>
            <a:off x="594360" y="3170039"/>
            <a:ext cx="728663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68" kern="0" dirty="0">
                <a:solidFill>
                  <a:srgbClr val="A887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用途与寓意</a:t>
            </a:r>
            <a:endParaRPr lang="en-US" sz="900" dirty="0"/>
          </a:p>
        </p:txBody>
      </p:sp>
      <p:sp>
        <p:nvSpPr>
          <p:cNvPr id="33" name="bullet-3"/>
          <p:cNvSpPr/>
          <p:nvPr/>
        </p:nvSpPr>
        <p:spPr>
          <a:xfrm>
            <a:off x="485775" y="3381494"/>
            <a:ext cx="5370271" cy="1900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55" dirty="0">
                <a:solidFill>
                  <a:srgbClr val="2B21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该杯曾用于清代元旦“明窗开笔”仪式，寓意“金瓯（国土）永固”。</a:t>
            </a:r>
            <a:endParaRPr lang="en-US" sz="855" dirty="0"/>
          </a:p>
        </p:txBody>
      </p:sp>
      <p:sp>
        <p:nvSpPr>
          <p:cNvPr id="34" name="footer"/>
          <p:cNvSpPr/>
          <p:nvPr/>
        </p:nvSpPr>
        <p:spPr>
          <a:xfrm>
            <a:off x="342900" y="4458950"/>
            <a:ext cx="4937760" cy="341650"/>
          </a:xfrm>
          <a:prstGeom prst="rect">
            <a:avLst/>
          </a:prstGeom>
          <a:noFill/>
          <a:ln/>
        </p:spPr>
      </p:sp>
      <p:sp>
        <p:nvSpPr>
          <p:cNvPr id="35" name="footer"/>
          <p:cNvSpPr/>
          <p:nvPr/>
        </p:nvSpPr>
        <p:spPr>
          <a:xfrm>
            <a:off x="342900" y="4458950"/>
            <a:ext cx="4937760" cy="0"/>
          </a:xfrm>
          <a:prstGeom prst="line">
            <a:avLst/>
          </a:prstGeom>
          <a:noFill/>
          <a:ln w="5715">
            <a:solidFill>
              <a:srgbClr val="C9A227">
                <a:alpha val="42000"/>
              </a:srgbClr>
            </a:solidFill>
            <a:prstDash val="solid"/>
          </a:ln>
        </p:spPr>
      </p:sp>
      <p:sp>
        <p:nvSpPr>
          <p:cNvPr id="36" name="footer"/>
          <p:cNvSpPr/>
          <p:nvPr/>
        </p:nvSpPr>
        <p:spPr>
          <a:xfrm>
            <a:off x="342900" y="4550390"/>
            <a:ext cx="5050931" cy="24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30" dirty="0">
                <a:solidFill>
                  <a:srgbClr val="5C4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出处：故宫博物院官网《金瓯永固杯》；人民日报海外版《“金瓯永固”杯 清皇帝除夕开笔仪式专用酒器》。图片来自 Wikimedia Commons，作者、许可版本与来源页待核实。</a:t>
            </a:r>
            <a:endParaRPr lang="en-US" sz="630" dirty="0"/>
          </a:p>
        </p:txBody>
      </p:sp>
      <p:sp>
        <p:nvSpPr>
          <p:cNvPr id="37" name="image-1"/>
          <p:cNvSpPr/>
          <p:nvPr/>
        </p:nvSpPr>
        <p:spPr>
          <a:xfrm>
            <a:off x="5600700" y="274320"/>
            <a:ext cx="3200400" cy="4326255"/>
          </a:xfrm>
          <a:prstGeom prst="rect">
            <a:avLst/>
          </a:prstGeom>
          <a:solidFill>
            <a:srgbClr val="FFF8E1"/>
          </a:solidFill>
          <a:ln w="5715">
            <a:solidFill>
              <a:srgbClr val="C9A227"/>
            </a:solidFill>
            <a:prstDash val="solid"/>
          </a:ln>
          <a:effectLst>
            <a:outerShdw sx="100000" sy="100000" kx="0" ky="0" algn="bl" rotWithShape="0" blurRad="323850" dist="133350" dir="16200000">
              <a:srgbClr val="2B2118">
                <a:alpha val="20000"/>
              </a:srgbClr>
            </a:outerShdw>
          </a:effectLst>
        </p:spPr>
      </p:sp>
      <p:sp>
        <p:nvSpPr>
          <p:cNvPr id="38" name="image-1"/>
          <p:cNvSpPr/>
          <p:nvPr/>
        </p:nvSpPr>
        <p:spPr>
          <a:xfrm>
            <a:off x="5674995" y="348615"/>
            <a:ext cx="3051810" cy="4177665"/>
          </a:xfrm>
          <a:prstGeom prst="rect">
            <a:avLst/>
          </a:prstGeom>
          <a:noFill/>
          <a:ln w="5715">
            <a:solidFill>
              <a:srgbClr val="C9A227">
                <a:alpha val="55000"/>
              </a:srgbClr>
            </a:solidFill>
            <a:prstDash val="solid"/>
          </a:ln>
        </p:spPr>
      </p:sp>
      <p:pic>
        <p:nvPicPr>
          <p:cNvPr id="39" name="image-1" descr="preencoded.png">    </p:cNvPr>
          <p:cNvPicPr>
            <a:picLocks noChangeAspect="1"/>
          </p:cNvPicPr>
          <p:nvPr/>
        </p:nvPicPr>
        <p:blipFill>
          <a:blip r:embed="rId2"/>
          <a:srcRect l="1668" r="1668" t="0" b="0"/>
          <a:stretch/>
        </p:blipFill>
        <p:spPr>
          <a:xfrm>
            <a:off x="5715000" y="388620"/>
            <a:ext cx="2971800" cy="4097655"/>
          </a:xfrm>
          <a:prstGeom prst="rect">
            <a:avLst/>
          </a:prstGeom>
        </p:spPr>
      </p:pic>
      <p:sp>
        <p:nvSpPr>
          <p:cNvPr id="40" name="image-1"/>
          <p:cNvSpPr/>
          <p:nvPr/>
        </p:nvSpPr>
        <p:spPr>
          <a:xfrm>
            <a:off x="5600700" y="4712018"/>
            <a:ext cx="57150" cy="5715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41" name="image-1"/>
          <p:cNvSpPr/>
          <p:nvPr/>
        </p:nvSpPr>
        <p:spPr>
          <a:xfrm>
            <a:off x="5715000" y="4680585"/>
            <a:ext cx="1768921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spc="45" kern="0" dirty="0">
                <a:solidFill>
                  <a:srgbClr val="5C4B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故宫博物院藏 金瓯永固杯（局部特写）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E1">
              <a:alpha val="8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E53935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gradFill rotWithShape="1">
            <a:gsLst>
              <a:gs pos="0">
                <a:srgbClr val="E53935"/>
              </a:gs>
              <a:gs pos="100000">
                <a:srgbClr val="C9A227"/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0" y="5109210"/>
            <a:ext cx="9144000" cy="3429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eyebrow"/>
          <p:cNvSpPr/>
          <p:nvPr/>
        </p:nvSpPr>
        <p:spPr>
          <a:xfrm>
            <a:off x="342900" y="328613"/>
            <a:ext cx="148590" cy="1143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eyebrow"/>
          <p:cNvSpPr/>
          <p:nvPr/>
        </p:nvSpPr>
        <p:spPr>
          <a:xfrm>
            <a:off x="560070" y="274320"/>
            <a:ext cx="169471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spc="189" kern="0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故宫博物院 · 文化与科技融合</a:t>
            </a:r>
            <a:endParaRPr lang="en-US" sz="675" dirty="0"/>
          </a:p>
        </p:txBody>
      </p:sp>
      <p:sp>
        <p:nvSpPr>
          <p:cNvPr id="8" name="title"/>
          <p:cNvSpPr/>
          <p:nvPr/>
        </p:nvSpPr>
        <p:spPr>
          <a:xfrm>
            <a:off x="342900" y="451485"/>
            <a:ext cx="9473184" cy="35486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30" b="1" spc="73" kern="0" dirty="0">
                <a:solidFill>
                  <a:srgbClr val="2E1D1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保护技艺与数字记录传承</a:t>
            </a:r>
            <a:endParaRPr lang="en-US" sz="2430" dirty="0"/>
          </a:p>
        </p:txBody>
      </p:sp>
      <p:sp>
        <p:nvSpPr>
          <p:cNvPr id="9" name="narrative"/>
          <p:cNvSpPr/>
          <p:nvPr/>
        </p:nvSpPr>
        <p:spPr>
          <a:xfrm>
            <a:off x="342900" y="874931"/>
            <a:ext cx="7552944" cy="1919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45" dirty="0">
                <a:solidFill>
                  <a:srgbClr val="6E57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保护不只是“修房子”，更是把文物一一定格、记录，让遗产可监测、可传承。</a:t>
            </a:r>
            <a:endParaRPr lang="en-US" sz="945" dirty="0"/>
          </a:p>
        </p:txBody>
      </p:sp>
      <p:sp>
        <p:nvSpPr>
          <p:cNvPr id="10" name="Shape 8"/>
          <p:cNvSpPr/>
          <p:nvPr/>
        </p:nvSpPr>
        <p:spPr>
          <a:xfrm>
            <a:off x="342900" y="1146929"/>
            <a:ext cx="8458200" cy="17145"/>
          </a:xfrm>
          <a:prstGeom prst="rect">
            <a:avLst/>
          </a:prstGeom>
          <a:gradFill rotWithShape="1">
            <a:gsLst>
              <a:gs pos="0">
                <a:srgbClr val="E53935"/>
              </a:gs>
              <a:gs pos="42000">
                <a:srgbClr val="C9A227"/>
              </a:gs>
              <a:gs pos="100000">
                <a:srgbClr val="C9A227">
                  <a:alpha val="18000"/>
                </a:srgbClr>
              </a:gs>
            </a:gsLst>
            <a:lin ang="0" scaled="0"/>
          </a:gradFill>
          <a:ln/>
        </p:spPr>
      </p:sp>
      <p:sp>
        <p:nvSpPr>
          <p:cNvPr id="11" name="image-1"/>
          <p:cNvSpPr/>
          <p:nvPr/>
        </p:nvSpPr>
        <p:spPr>
          <a:xfrm>
            <a:off x="342900" y="1289804"/>
            <a:ext cx="3657600" cy="3074313"/>
          </a:xfrm>
          <a:prstGeom prst="rect">
            <a:avLst/>
          </a:prstGeom>
          <a:solidFill>
            <a:srgbClr val="FFFDF6"/>
          </a:solidFill>
          <a:ln w="5715">
            <a:solidFill>
              <a:srgbClr val="C9A227">
                <a:alpha val="55000"/>
              </a:srgbClr>
            </a:solidFill>
            <a:prstDash val="solid"/>
          </a:ln>
          <a:effectLst>
            <a:outerShdw sx="100000" sy="100000" kx="0" ky="0" algn="bl" rotWithShape="0" blurRad="266700" dist="114300" dir="16200000">
              <a:srgbClr val="462D19">
                <a:alpha val="16000"/>
              </a:srgbClr>
            </a:outerShdw>
          </a:effectLst>
        </p:spPr>
      </p:sp>
      <p:sp>
        <p:nvSpPr>
          <p:cNvPr id="12" name="image-1"/>
          <p:cNvSpPr/>
          <p:nvPr/>
        </p:nvSpPr>
        <p:spPr>
          <a:xfrm>
            <a:off x="382905" y="1329809"/>
            <a:ext cx="114300" cy="114300"/>
          </a:xfrm>
          <a:prstGeom prst="rect">
            <a:avLst/>
          </a:prstGeom>
          <a:noFill/>
          <a:ln/>
        </p:spPr>
      </p:sp>
      <p:sp>
        <p:nvSpPr>
          <p:cNvPr id="13" name="image-1"/>
          <p:cNvSpPr/>
          <p:nvPr/>
        </p:nvSpPr>
        <p:spPr>
          <a:xfrm>
            <a:off x="382905" y="1329809"/>
            <a:ext cx="114300" cy="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14" name="image-1"/>
          <p:cNvSpPr/>
          <p:nvPr/>
        </p:nvSpPr>
        <p:spPr>
          <a:xfrm>
            <a:off x="382905" y="1329809"/>
            <a:ext cx="0" cy="11430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15" name="image-1"/>
          <p:cNvSpPr/>
          <p:nvPr/>
        </p:nvSpPr>
        <p:spPr>
          <a:xfrm>
            <a:off x="3846195" y="1329809"/>
            <a:ext cx="114300" cy="114300"/>
          </a:xfrm>
          <a:prstGeom prst="rect">
            <a:avLst/>
          </a:prstGeom>
          <a:noFill/>
          <a:ln/>
        </p:spPr>
      </p:sp>
      <p:sp>
        <p:nvSpPr>
          <p:cNvPr id="16" name="image-1"/>
          <p:cNvSpPr/>
          <p:nvPr/>
        </p:nvSpPr>
        <p:spPr>
          <a:xfrm>
            <a:off x="3846195" y="1329809"/>
            <a:ext cx="114300" cy="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17" name="image-1"/>
          <p:cNvSpPr/>
          <p:nvPr/>
        </p:nvSpPr>
        <p:spPr>
          <a:xfrm>
            <a:off x="3960495" y="1329809"/>
            <a:ext cx="0" cy="11430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18" name="image-1"/>
          <p:cNvSpPr/>
          <p:nvPr/>
        </p:nvSpPr>
        <p:spPr>
          <a:xfrm>
            <a:off x="382905" y="4209812"/>
            <a:ext cx="114300" cy="114300"/>
          </a:xfrm>
          <a:prstGeom prst="rect">
            <a:avLst/>
          </a:prstGeom>
          <a:noFill/>
          <a:ln/>
        </p:spPr>
      </p:sp>
      <p:sp>
        <p:nvSpPr>
          <p:cNvPr id="19" name="image-1"/>
          <p:cNvSpPr/>
          <p:nvPr/>
        </p:nvSpPr>
        <p:spPr>
          <a:xfrm>
            <a:off x="382905" y="4324112"/>
            <a:ext cx="114300" cy="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20" name="image-1"/>
          <p:cNvSpPr/>
          <p:nvPr/>
        </p:nvSpPr>
        <p:spPr>
          <a:xfrm>
            <a:off x="382905" y="4209812"/>
            <a:ext cx="0" cy="11430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21" name="image-1"/>
          <p:cNvSpPr/>
          <p:nvPr/>
        </p:nvSpPr>
        <p:spPr>
          <a:xfrm>
            <a:off x="3846195" y="4209812"/>
            <a:ext cx="114300" cy="114300"/>
          </a:xfrm>
          <a:prstGeom prst="rect">
            <a:avLst/>
          </a:prstGeom>
          <a:noFill/>
          <a:ln/>
        </p:spPr>
      </p:sp>
      <p:sp>
        <p:nvSpPr>
          <p:cNvPr id="22" name="image-1"/>
          <p:cNvSpPr/>
          <p:nvPr/>
        </p:nvSpPr>
        <p:spPr>
          <a:xfrm>
            <a:off x="3960495" y="4209812"/>
            <a:ext cx="0" cy="11430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sp>
        <p:nvSpPr>
          <p:cNvPr id="23" name="image-1"/>
          <p:cNvSpPr/>
          <p:nvPr/>
        </p:nvSpPr>
        <p:spPr>
          <a:xfrm>
            <a:off x="3846195" y="4324112"/>
            <a:ext cx="114300" cy="0"/>
          </a:xfrm>
          <a:prstGeom prst="line">
            <a:avLst/>
          </a:prstGeom>
          <a:noFill/>
          <a:ln w="11430">
            <a:solidFill>
              <a:srgbClr val="33231C"/>
            </a:solidFill>
            <a:prstDash val="solid"/>
          </a:ln>
        </p:spPr>
      </p:sp>
      <p:pic>
        <p:nvPicPr>
          <p:cNvPr id="24" name="image-1" descr="preencoded.png">    </p:cNvPr>
          <p:cNvPicPr>
            <a:picLocks noChangeAspect="1"/>
          </p:cNvPicPr>
          <p:nvPr/>
        </p:nvPicPr>
        <p:blipFill>
          <a:blip r:embed="rId2"/>
          <a:srcRect l="6865" r="6865" t="0" b="0"/>
          <a:stretch/>
        </p:blipFill>
        <p:spPr>
          <a:xfrm>
            <a:off x="428625" y="1375529"/>
            <a:ext cx="3497580" cy="2702838"/>
          </a:xfrm>
          <a:prstGeom prst="rect">
            <a:avLst/>
          </a:prstGeom>
        </p:spPr>
      </p:pic>
      <p:sp>
        <p:nvSpPr>
          <p:cNvPr id="25" name="image-1"/>
          <p:cNvSpPr/>
          <p:nvPr/>
        </p:nvSpPr>
        <p:spPr>
          <a:xfrm>
            <a:off x="440055" y="4192667"/>
            <a:ext cx="62865" cy="62865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6" name="image-1"/>
          <p:cNvSpPr/>
          <p:nvPr/>
        </p:nvSpPr>
        <p:spPr>
          <a:xfrm>
            <a:off x="560070" y="4141232"/>
            <a:ext cx="379512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8A2B2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午门</a:t>
            </a:r>
            <a:endParaRPr lang="en-US" sz="900" dirty="0"/>
          </a:p>
        </p:txBody>
      </p:sp>
      <p:sp>
        <p:nvSpPr>
          <p:cNvPr id="27" name="bullet-1"/>
          <p:cNvSpPr/>
          <p:nvPr/>
        </p:nvSpPr>
        <p:spPr>
          <a:xfrm>
            <a:off x="4229100" y="1289804"/>
            <a:ext cx="4572000" cy="1084064"/>
          </a:xfrm>
          <a:prstGeom prst="rect">
            <a:avLst/>
          </a:prstGeom>
          <a:solidFill>
            <a:srgbClr val="FFFDF6"/>
          </a:solidFill>
          <a:ln w="28575">
            <a:solidFill>
              <a:srgbClr val="E53935">
                <a:alpha val="55000"/>
              </a:srgbClr>
            </a:solidFill>
            <a:prstDash val="solid"/>
          </a:ln>
          <a:effectLst>
            <a:outerShdw sx="100000" sy="100000" kx="0" ky="0" algn="bl" rotWithShape="0" blurRad="171450" dist="76200" dir="16200000">
              <a:srgbClr val="462D19">
                <a:alpha val="10000"/>
              </a:srgbClr>
            </a:outerShdw>
          </a:effectLst>
        </p:spPr>
      </p:sp>
      <p:sp>
        <p:nvSpPr>
          <p:cNvPr id="28" name="bullet-1"/>
          <p:cNvSpPr/>
          <p:nvPr/>
        </p:nvSpPr>
        <p:spPr>
          <a:xfrm>
            <a:off x="4394835" y="1452682"/>
            <a:ext cx="57150" cy="571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bullet-1"/>
          <p:cNvSpPr/>
          <p:nvPr/>
        </p:nvSpPr>
        <p:spPr>
          <a:xfrm>
            <a:off x="4509135" y="1386959"/>
            <a:ext cx="683568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52" kern="0" dirty="0">
                <a:solidFill>
                  <a:srgbClr val="8A2B2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保护技艺</a:t>
            </a:r>
            <a:endParaRPr lang="en-US" sz="1035" dirty="0"/>
          </a:p>
        </p:txBody>
      </p:sp>
      <p:sp>
        <p:nvSpPr>
          <p:cNvPr id="30" name="bullet-1"/>
          <p:cNvSpPr/>
          <p:nvPr/>
        </p:nvSpPr>
        <p:spPr>
          <a:xfrm>
            <a:off x="4394835" y="1632704"/>
            <a:ext cx="4774997" cy="358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55" dirty="0">
                <a:solidFill>
                  <a:srgbClr val="6E57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以“四个故宫”建设体系推进预防性保护：变化可监测、风险可预控，古建与院藏文物持续得到科学保护。</a:t>
            </a:r>
            <a:endParaRPr lang="en-US" sz="855" dirty="0"/>
          </a:p>
        </p:txBody>
      </p:sp>
      <p:sp>
        <p:nvSpPr>
          <p:cNvPr id="31" name="bullet-1"/>
          <p:cNvSpPr/>
          <p:nvPr/>
        </p:nvSpPr>
        <p:spPr>
          <a:xfrm>
            <a:off x="4394835" y="2070973"/>
            <a:ext cx="570607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32" name="bullet-1"/>
          <p:cNvSpPr/>
          <p:nvPr/>
        </p:nvSpPr>
        <p:spPr>
          <a:xfrm>
            <a:off x="4394835" y="2070973"/>
            <a:ext cx="662047" cy="194310"/>
          </a:xfrm>
          <a:prstGeom prst="rect">
            <a:avLst/>
          </a:prstGeom>
          <a:noFill/>
          <a:ln/>
        </p:spPr>
        <p:txBody>
          <a:bodyPr wrap="non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平安故宫</a:t>
            </a:r>
            <a:endParaRPr lang="en-US" sz="720" dirty="0"/>
          </a:p>
        </p:txBody>
      </p:sp>
      <p:sp>
        <p:nvSpPr>
          <p:cNvPr id="33" name="bullet-1"/>
          <p:cNvSpPr/>
          <p:nvPr/>
        </p:nvSpPr>
        <p:spPr>
          <a:xfrm>
            <a:off x="5022592" y="2070973"/>
            <a:ext cx="570607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34" name="bullet-1"/>
          <p:cNvSpPr/>
          <p:nvPr/>
        </p:nvSpPr>
        <p:spPr>
          <a:xfrm>
            <a:off x="5022592" y="2070973"/>
            <a:ext cx="662047" cy="194310"/>
          </a:xfrm>
          <a:prstGeom prst="rect">
            <a:avLst/>
          </a:prstGeom>
          <a:noFill/>
          <a:ln/>
        </p:spPr>
        <p:txBody>
          <a:bodyPr wrap="non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学术故宫</a:t>
            </a:r>
            <a:endParaRPr lang="en-US" sz="720" dirty="0"/>
          </a:p>
        </p:txBody>
      </p:sp>
      <p:sp>
        <p:nvSpPr>
          <p:cNvPr id="35" name="bullet-1"/>
          <p:cNvSpPr/>
          <p:nvPr/>
        </p:nvSpPr>
        <p:spPr>
          <a:xfrm>
            <a:off x="5650349" y="2070973"/>
            <a:ext cx="570607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36" name="bullet-1"/>
          <p:cNvSpPr/>
          <p:nvPr/>
        </p:nvSpPr>
        <p:spPr>
          <a:xfrm>
            <a:off x="5650349" y="2070973"/>
            <a:ext cx="662047" cy="194310"/>
          </a:xfrm>
          <a:prstGeom prst="rect">
            <a:avLst/>
          </a:prstGeom>
          <a:noFill/>
          <a:ln/>
        </p:spPr>
        <p:txBody>
          <a:bodyPr wrap="non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数字故宫</a:t>
            </a:r>
            <a:endParaRPr lang="en-US" sz="720" dirty="0"/>
          </a:p>
        </p:txBody>
      </p:sp>
      <p:sp>
        <p:nvSpPr>
          <p:cNvPr id="37" name="bullet-1"/>
          <p:cNvSpPr/>
          <p:nvPr/>
        </p:nvSpPr>
        <p:spPr>
          <a:xfrm>
            <a:off x="6278106" y="2070973"/>
            <a:ext cx="570607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38" name="bullet-1"/>
          <p:cNvSpPr/>
          <p:nvPr/>
        </p:nvSpPr>
        <p:spPr>
          <a:xfrm>
            <a:off x="6278106" y="2070973"/>
            <a:ext cx="662047" cy="194310"/>
          </a:xfrm>
          <a:prstGeom prst="rect">
            <a:avLst/>
          </a:prstGeom>
          <a:noFill/>
          <a:ln/>
        </p:spPr>
        <p:txBody>
          <a:bodyPr wrap="non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活力故宫</a:t>
            </a:r>
            <a:endParaRPr lang="en-US" sz="720" dirty="0"/>
          </a:p>
        </p:txBody>
      </p:sp>
      <p:sp>
        <p:nvSpPr>
          <p:cNvPr id="39" name="bullet-2"/>
          <p:cNvSpPr/>
          <p:nvPr/>
        </p:nvSpPr>
        <p:spPr>
          <a:xfrm>
            <a:off x="4229100" y="2476738"/>
            <a:ext cx="4572000" cy="591503"/>
          </a:xfrm>
          <a:prstGeom prst="rect">
            <a:avLst/>
          </a:prstGeom>
          <a:solidFill>
            <a:srgbClr val="FFFDF6"/>
          </a:solidFill>
          <a:ln w="28575">
            <a:solidFill>
              <a:srgbClr val="E53935">
                <a:alpha val="55000"/>
              </a:srgbClr>
            </a:solidFill>
            <a:prstDash val="solid"/>
          </a:ln>
          <a:effectLst>
            <a:outerShdw sx="100000" sy="100000" kx="0" ky="0" algn="bl" rotWithShape="0" blurRad="171450" dist="76200" dir="16200000">
              <a:srgbClr val="462D19">
                <a:alpha val="10000"/>
              </a:srgbClr>
            </a:outerShdw>
          </a:effectLst>
        </p:spPr>
      </p:sp>
      <p:sp>
        <p:nvSpPr>
          <p:cNvPr id="40" name="bullet-2"/>
          <p:cNvSpPr/>
          <p:nvPr/>
        </p:nvSpPr>
        <p:spPr>
          <a:xfrm>
            <a:off x="4394835" y="2639616"/>
            <a:ext cx="57150" cy="571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1" name="bullet-2"/>
          <p:cNvSpPr/>
          <p:nvPr/>
        </p:nvSpPr>
        <p:spPr>
          <a:xfrm>
            <a:off x="4509135" y="2573893"/>
            <a:ext cx="683568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52" kern="0" dirty="0">
                <a:solidFill>
                  <a:srgbClr val="8A2B2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数字记录</a:t>
            </a:r>
            <a:endParaRPr lang="en-US" sz="1035" dirty="0"/>
          </a:p>
        </p:txBody>
      </p:sp>
      <p:sp>
        <p:nvSpPr>
          <p:cNvPr id="42" name="bullet-2"/>
          <p:cNvSpPr/>
          <p:nvPr/>
        </p:nvSpPr>
        <p:spPr>
          <a:xfrm>
            <a:off x="4394835" y="2831068"/>
            <a:ext cx="4774997" cy="1285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8A6F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 年“故宫·腾讯联合创新实验室”落成，以超高清二维影像、三维文物数据为院藏文物建立数字档案。</a:t>
            </a:r>
            <a:endParaRPr lang="en-US" sz="675" dirty="0"/>
          </a:p>
        </p:txBody>
      </p:sp>
      <p:sp>
        <p:nvSpPr>
          <p:cNvPr id="43" name="bullet-3"/>
          <p:cNvSpPr/>
          <p:nvPr/>
        </p:nvSpPr>
        <p:spPr>
          <a:xfrm>
            <a:off x="4229100" y="3171111"/>
            <a:ext cx="4572000" cy="904935"/>
          </a:xfrm>
          <a:prstGeom prst="rect">
            <a:avLst/>
          </a:prstGeom>
          <a:solidFill>
            <a:srgbClr val="FFFDF6"/>
          </a:solidFill>
          <a:ln w="28575">
            <a:solidFill>
              <a:srgbClr val="E53935">
                <a:alpha val="55000"/>
              </a:srgbClr>
            </a:solidFill>
            <a:prstDash val="solid"/>
          </a:ln>
          <a:effectLst>
            <a:outerShdw sx="100000" sy="100000" kx="0" ky="0" algn="bl" rotWithShape="0" blurRad="171450" dist="76200" dir="16200000">
              <a:srgbClr val="462D19">
                <a:alpha val="10000"/>
              </a:srgbClr>
            </a:outerShdw>
          </a:effectLst>
        </p:spPr>
      </p:sp>
      <p:sp>
        <p:nvSpPr>
          <p:cNvPr id="44" name="bullet-3"/>
          <p:cNvSpPr/>
          <p:nvPr/>
        </p:nvSpPr>
        <p:spPr>
          <a:xfrm>
            <a:off x="4394835" y="3333988"/>
            <a:ext cx="57150" cy="5715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5" name="bullet-3"/>
          <p:cNvSpPr/>
          <p:nvPr/>
        </p:nvSpPr>
        <p:spPr>
          <a:xfrm>
            <a:off x="4509135" y="3268266"/>
            <a:ext cx="683568" cy="1885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35" b="1" spc="52" kern="0" dirty="0">
                <a:solidFill>
                  <a:srgbClr val="8A2B2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公众传播</a:t>
            </a:r>
            <a:endParaRPr lang="en-US" sz="1035" dirty="0"/>
          </a:p>
        </p:txBody>
      </p:sp>
      <p:sp>
        <p:nvSpPr>
          <p:cNvPr id="46" name="bullet-3"/>
          <p:cNvSpPr/>
          <p:nvPr/>
        </p:nvSpPr>
        <p:spPr>
          <a:xfrm>
            <a:off x="4394835" y="3514011"/>
            <a:ext cx="4774997" cy="17913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855" dirty="0">
                <a:solidFill>
                  <a:srgbClr val="6E57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“数字文物库”“全景故宫”等项目面向公众开放，让院藏文物走进日常。</a:t>
            </a:r>
            <a:endParaRPr lang="en-US" sz="855" dirty="0"/>
          </a:p>
        </p:txBody>
      </p:sp>
      <p:sp>
        <p:nvSpPr>
          <p:cNvPr id="47" name="bullet-3"/>
          <p:cNvSpPr/>
          <p:nvPr/>
        </p:nvSpPr>
        <p:spPr>
          <a:xfrm>
            <a:off x="4394835" y="3773150"/>
            <a:ext cx="667583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48" name="bullet-3"/>
          <p:cNvSpPr/>
          <p:nvPr/>
        </p:nvSpPr>
        <p:spPr>
          <a:xfrm>
            <a:off x="4394835" y="3773150"/>
            <a:ext cx="759023" cy="194310"/>
          </a:xfrm>
          <a:prstGeom prst="rect">
            <a:avLst/>
          </a:prstGeom>
          <a:noFill/>
          <a:ln/>
        </p:spPr>
        <p:txBody>
          <a:bodyPr wrap="squar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数字文物库</a:t>
            </a:r>
            <a:endParaRPr lang="en-US" sz="720" dirty="0"/>
          </a:p>
        </p:txBody>
      </p:sp>
      <p:sp>
        <p:nvSpPr>
          <p:cNvPr id="49" name="bullet-3"/>
          <p:cNvSpPr/>
          <p:nvPr/>
        </p:nvSpPr>
        <p:spPr>
          <a:xfrm>
            <a:off x="5119568" y="3773150"/>
            <a:ext cx="570607" cy="194310"/>
          </a:xfrm>
          <a:prstGeom prst="rect">
            <a:avLst/>
          </a:prstGeom>
          <a:solidFill>
            <a:srgbClr val="FFF3E6"/>
          </a:solidFill>
          <a:ln w="5715">
            <a:solidFill>
              <a:srgbClr val="E53935">
                <a:alpha val="45000"/>
              </a:srgbClr>
            </a:solidFill>
            <a:prstDash val="solid"/>
          </a:ln>
        </p:spPr>
      </p:sp>
      <p:sp>
        <p:nvSpPr>
          <p:cNvPr id="50" name="bullet-3"/>
          <p:cNvSpPr/>
          <p:nvPr/>
        </p:nvSpPr>
        <p:spPr>
          <a:xfrm>
            <a:off x="5119568" y="3773150"/>
            <a:ext cx="662047" cy="194310"/>
          </a:xfrm>
          <a:prstGeom prst="rect">
            <a:avLst/>
          </a:prstGeom>
          <a:noFill/>
          <a:ln/>
        </p:spPr>
        <p:txBody>
          <a:bodyPr wrap="none" lIns="45720" tIns="85725" rIns="85725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spc="43" kern="0" dirty="0">
                <a:solidFill>
                  <a:srgbClr val="A5281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全景故宫</a:t>
            </a:r>
            <a:endParaRPr lang="en-US" sz="720" dirty="0"/>
          </a:p>
        </p:txBody>
      </p:sp>
      <p:sp>
        <p:nvSpPr>
          <p:cNvPr id="51" name="footer"/>
          <p:cNvSpPr/>
          <p:nvPr/>
        </p:nvSpPr>
        <p:spPr>
          <a:xfrm>
            <a:off x="342900" y="4489847"/>
            <a:ext cx="8458200" cy="310753"/>
          </a:xfrm>
          <a:prstGeom prst="rect">
            <a:avLst/>
          </a:prstGeom>
          <a:noFill/>
          <a:ln/>
        </p:spPr>
      </p:sp>
      <p:sp>
        <p:nvSpPr>
          <p:cNvPr id="52" name="footer"/>
          <p:cNvSpPr/>
          <p:nvPr/>
        </p:nvSpPr>
        <p:spPr>
          <a:xfrm>
            <a:off x="342900" y="4489847"/>
            <a:ext cx="8458200" cy="0"/>
          </a:xfrm>
          <a:prstGeom prst="line">
            <a:avLst/>
          </a:prstGeom>
          <a:noFill/>
          <a:ln w="5715">
            <a:solidFill>
              <a:srgbClr val="C9A227">
                <a:alpha val="55000"/>
              </a:srgbClr>
            </a:solidFill>
            <a:prstDash val="solid"/>
          </a:ln>
        </p:spPr>
      </p:sp>
      <p:sp>
        <p:nvSpPr>
          <p:cNvPr id="53" name="footer"/>
          <p:cNvSpPr/>
          <p:nvPr/>
        </p:nvSpPr>
        <p:spPr>
          <a:xfrm>
            <a:off x="342900" y="4575572"/>
            <a:ext cx="68580" cy="685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4" name="footer"/>
          <p:cNvSpPr/>
          <p:nvPr/>
        </p:nvSpPr>
        <p:spPr>
          <a:xfrm>
            <a:off x="480060" y="4552712"/>
            <a:ext cx="9319565" cy="247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630" dirty="0">
                <a:solidFill>
                  <a:srgbClr val="7A61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出处：文化和旅游部对十三届全国人大五次会议第 6662 号建议的答复；故宫博物院《“共享”“创新”助力数字文物走向大众》；新华网《六百年的故宫里，看文化与科技融合》。图片来自 Wikimedia Commons，作者、许可版本与来源页待核实。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2026-10-15T01:46:27Z</dcterms:created>
  <dcterms:modified xsi:type="dcterms:W3CDTF">2026-10-15T01:46:27Z</dcterms:modified>
</cp:coreProperties>
</file>